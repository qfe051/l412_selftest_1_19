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1097" r:id="rId2"/>
    <p:sldId id="1096" r:id="rId3"/>
    <p:sldId id="1100" r:id="rId4"/>
    <p:sldId id="1102" r:id="rId5"/>
    <p:sldId id="1098" r:id="rId6"/>
    <p:sldId id="1103" r:id="rId7"/>
    <p:sldId id="1104" r:id="rId8"/>
    <p:sldId id="1099" r:id="rId9"/>
    <p:sldId id="1101" r:id="rId10"/>
  </p:sldIdLst>
  <p:sldSz cx="12192000" cy="6858000"/>
  <p:notesSz cx="6735763" cy="98663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8" userDrawn="1">
          <p15:clr>
            <a:srgbClr val="A4A3A4"/>
          </p15:clr>
        </p15:guide>
        <p15:guide id="2" pos="2122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48A6"/>
    <a:srgbClr val="0000FF"/>
    <a:srgbClr val="595959"/>
    <a:srgbClr val="2E71EA"/>
    <a:srgbClr val="37E2FF"/>
    <a:srgbClr val="60BEA7"/>
    <a:srgbClr val="FFE699"/>
    <a:srgbClr val="BFBFBF"/>
    <a:srgbClr val="EC5F58"/>
    <a:srgbClr val="26A9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393" autoAdjust="0"/>
    <p:restoredTop sz="92790" autoAdjust="0"/>
  </p:normalViewPr>
  <p:slideViewPr>
    <p:cSldViewPr snapToGrid="0">
      <p:cViewPr varScale="1">
        <p:scale>
          <a:sx n="84" d="100"/>
          <a:sy n="84" d="100"/>
        </p:scale>
        <p:origin x="100" y="72"/>
      </p:cViewPr>
      <p:guideLst>
        <p:guide orient="horz" pos="2160"/>
        <p:guide pos="3840"/>
      </p:guideLst>
    </p:cSldViewPr>
  </p:slideViewPr>
  <p:notesTextViewPr>
    <p:cViewPr>
      <p:scale>
        <a:sx n="66" d="100"/>
        <a:sy n="66" d="100"/>
      </p:scale>
      <p:origin x="0" y="0"/>
    </p:cViewPr>
  </p:notesTextViewPr>
  <p:notesViewPr>
    <p:cSldViewPr snapToGrid="0">
      <p:cViewPr varScale="1">
        <p:scale>
          <a:sx n="58" d="100"/>
          <a:sy n="58" d="100"/>
        </p:scale>
        <p:origin x="-3293" y="-86"/>
      </p:cViewPr>
      <p:guideLst>
        <p:guide orient="horz" pos="3108"/>
        <p:guide pos="212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14763" y="0"/>
            <a:ext cx="2919412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406EB0-B97D-49F4-8313-D3926DE8860A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371013"/>
            <a:ext cx="2919413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14763" y="9371013"/>
            <a:ext cx="2919412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EFEFB9-15C7-459E-AFDF-48C80CC825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40216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D34DEB-12D1-4386-BA98-56BFB740DC56}" type="datetimeFigureOut">
              <a:rPr lang="ko-KR" altLang="en-US" smtClean="0"/>
              <a:t>2026-05-11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1A9987-C07B-4DC6-8065-A1C5A878F318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5986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59C9A-B79F-5567-C396-5A1C542D3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949843E-7B23-38A7-1AD3-C229090BF9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56E4D65-1E6A-BAA7-E199-452921E893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7D5832-2EA8-2458-AC10-089E1C700C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781F97-5BDF-4CD9-8D31-8F07B370440B}" type="slidenum">
              <a:rPr lang="ko-KR" altLang="en-US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595921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E86CC-B25D-9FFF-44BD-CEA20A759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F9B2792-3DD0-AE62-BBA8-5AEBD645CF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5CD003-6AA7-8FD2-B581-E169BB916B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2529FE-6295-B783-49CB-949550F8E8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781F97-5BDF-4CD9-8D31-8F07B370440B}" type="slidenum">
              <a:rPr lang="ko-KR" altLang="en-US" smtClean="0"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339527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5EA0C-9EB7-E663-6F06-42ED0577E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F776213-E1C7-44DD-050A-456C64D4FA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05C3BFD-1501-7341-CF15-99C6B687C1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440CC34-15EA-38CB-0721-B97A091B08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781F97-5BDF-4CD9-8D31-8F07B370440B}" type="slidenum">
              <a:rPr lang="ko-KR" altLang="en-US" smtClean="0"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71639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19DDC-4828-D9D5-CDD3-C3886D702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9B659FC-FC61-7DA9-07AA-8FF791B4EB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E3851F7-7E44-7214-AC6F-BEBC3C1D85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284E628-E7D6-453F-0581-F70DA602EC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781F97-5BDF-4CD9-8D31-8F07B370440B}" type="slidenum">
              <a:rPr lang="ko-KR" altLang="en-US" smtClean="0"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496107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AE7F8-6B7A-F6BD-D41A-9787BB593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0EBE31B-F4D1-A807-FAE3-3D40A49DFA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D74E724-9A7C-53FA-4F12-BF9A643633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AA629E-B2CE-9C7C-F768-DC18BC9295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781F97-5BDF-4CD9-8D31-8F07B370440B}" type="slidenum">
              <a:rPr lang="ko-KR" altLang="en-US" smtClean="0"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142810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508F5-7B23-51B9-3153-A7CEA1EA7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F29223E-B3CA-877A-733B-7E3818DE0F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597EBA1-52E0-293C-B57E-DABC1AC22F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4DDFCCB-14C9-F013-0A8F-A515FB20D4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781F97-5BDF-4CD9-8D31-8F07B370440B}" type="slidenum">
              <a:rPr lang="ko-KR" altLang="en-US" smtClean="0"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35940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F65FA-4967-5A17-F354-11B5C9250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09BDEE9-C9C6-1630-925E-320E1254BB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40BDD91-D800-7EA3-E5CC-D614F88794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32885C-81D9-A995-A779-10E6727199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781F97-5BDF-4CD9-8D31-8F07B370440B}" type="slidenum">
              <a:rPr lang="ko-KR" altLang="en-US" smtClean="0"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89948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8FEA6-93AE-E0CA-8C72-C875FC190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CB6C1A2-79AA-E477-2DCE-43D01E9800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89A4A0E-C5B7-BBCD-81E3-9239A78BF3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247FC2-31A9-D716-9825-E05D545D0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781F97-5BDF-4CD9-8D31-8F07B370440B}" type="slidenum">
              <a:rPr lang="ko-KR" altLang="en-US" smtClean="0"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654871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F681C-5483-ED0A-469A-2011BB99A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999DC0C-31ED-CE83-FB9B-2B861A00C2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7C520B5-0016-ABD5-FFA5-EF10C9D2E2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3FC630-96FF-A23D-A4CF-7B2B0DAE7F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781F97-5BDF-4CD9-8D31-8F07B370440B}" type="slidenum">
              <a:rPr lang="ko-KR" altLang="en-US" smtClean="0"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745479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11396134" y="6468537"/>
            <a:ext cx="711200" cy="366182"/>
          </a:xfrm>
          <a:prstGeom prst="rect">
            <a:avLst/>
          </a:prstGeom>
        </p:spPr>
        <p:txBody>
          <a:bodyPr vert="horz" lIns="121873" tIns="60935" rIns="121873" bIns="60935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DABB789-FA18-47F0-8F5E-895E398FBCA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6" name="직사각형 5"/>
          <p:cNvSpPr/>
          <p:nvPr userDrawn="1"/>
        </p:nvSpPr>
        <p:spPr>
          <a:xfrm>
            <a:off x="281035" y="804333"/>
            <a:ext cx="11628342" cy="5562600"/>
          </a:xfrm>
          <a:prstGeom prst="rect">
            <a:avLst/>
          </a:prstGeom>
          <a:noFill/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7F5BE63-F116-286A-155E-BC3007028F9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4466" y="185332"/>
            <a:ext cx="1147945" cy="112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924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6397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08264-066F-9E41-1893-0635DDBB0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C7A78E81-0C44-2354-2B6C-924D6A4A43C0}"/>
              </a:ext>
            </a:extLst>
          </p:cNvPr>
          <p:cNvGrpSpPr/>
          <p:nvPr/>
        </p:nvGrpSpPr>
        <p:grpSpPr>
          <a:xfrm>
            <a:off x="4438507" y="1431335"/>
            <a:ext cx="3176767" cy="442592"/>
            <a:chOff x="255974" y="148389"/>
            <a:chExt cx="3177518" cy="442694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FD4BB92-6E58-E7AD-483A-8505957C6649}"/>
                </a:ext>
              </a:extLst>
            </p:cNvPr>
            <p:cNvSpPr txBox="1"/>
            <p:nvPr/>
          </p:nvSpPr>
          <p:spPr>
            <a:xfrm>
              <a:off x="575331" y="283235"/>
              <a:ext cx="64" cy="30784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r"/>
              <a:endParaRPr lang="en-US" altLang="ko-KR" sz="20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2E71EA"/>
                </a:solidFill>
                <a:latin typeface="맑은 고딕" panose="020B0503020000020004" pitchFamily="50" charset="-127"/>
                <a:ea typeface="G마켓 산스 TTF Bold" panose="02000000000000000000" pitchFamily="2" charset="-127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5C68D1E-3A75-3F3F-E090-6AF9E704CA09}"/>
                </a:ext>
              </a:extLst>
            </p:cNvPr>
            <p:cNvSpPr txBox="1"/>
            <p:nvPr/>
          </p:nvSpPr>
          <p:spPr>
            <a:xfrm>
              <a:off x="255974" y="148389"/>
              <a:ext cx="3177518" cy="36941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2400" b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 SemiBold" pitchFamily="50" charset="-127"/>
                </a:rPr>
                <a:t>Boot loader </a:t>
              </a:r>
              <a:r>
                <a:rPr lang="ko-KR" altLang="en-US" sz="24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 SemiBold" pitchFamily="50" charset="-127"/>
                </a:rPr>
                <a:t>개발 계획</a:t>
              </a:r>
              <a:endParaRPr lang="en-US" altLang="ko-KR" sz="24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2E71E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A5589E3-1CD0-3FE3-B4FD-3D7E1089FD97}"/>
              </a:ext>
            </a:extLst>
          </p:cNvPr>
          <p:cNvSpPr txBox="1"/>
          <p:nvPr/>
        </p:nvSpPr>
        <p:spPr>
          <a:xfrm>
            <a:off x="1709788" y="2789622"/>
            <a:ext cx="6096000" cy="2116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ko-KR" altLang="en-US" sz="1800" b="1" kern="1200" dirty="0">
                <a:effectLst/>
                <a:ea typeface="+mn-ea"/>
                <a:cs typeface="+mn-cs"/>
              </a:rPr>
              <a:t>사용 목적 및 </a:t>
            </a:r>
            <a:r>
              <a:rPr lang="en-US" altLang="ko-KR" sz="1800" b="1" kern="1200" dirty="0">
                <a:effectLst/>
                <a:ea typeface="+mn-ea"/>
                <a:cs typeface="+mn-cs"/>
              </a:rPr>
              <a:t>Flash Map</a:t>
            </a:r>
          </a:p>
          <a:p>
            <a:pPr marL="342900" marR="0" lvl="0" indent="-3429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altLang="ko-KR" b="1" dirty="0"/>
              <a:t>Boot</a:t>
            </a:r>
            <a:r>
              <a:rPr lang="ko-KR" altLang="en-US" b="1" dirty="0"/>
              <a:t> </a:t>
            </a:r>
            <a:r>
              <a:rPr lang="en-US" altLang="ko-KR" b="1" dirty="0"/>
              <a:t>loader </a:t>
            </a:r>
            <a:r>
              <a:rPr lang="ko-KR" altLang="en-US" b="1" dirty="0"/>
              <a:t>기능</a:t>
            </a:r>
            <a:endParaRPr lang="en-US" altLang="ko-KR" b="1" dirty="0"/>
          </a:p>
          <a:p>
            <a:pPr marL="342900" marR="0" lvl="0" indent="-3429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altLang="ko-KR" b="1" dirty="0" err="1"/>
              <a:t>Applocation</a:t>
            </a:r>
            <a:r>
              <a:rPr lang="en-US" altLang="ko-KR" b="1" dirty="0"/>
              <a:t> </a:t>
            </a:r>
            <a:r>
              <a:rPr lang="ko-KR" altLang="en-US" b="1" dirty="0"/>
              <a:t>기능</a:t>
            </a:r>
            <a:endParaRPr lang="en-US" altLang="ko-KR" b="1" dirty="0"/>
          </a:p>
          <a:p>
            <a:pPr marL="342900" marR="0" lvl="0" indent="-3429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altLang="ko-KR" b="1" dirty="0"/>
              <a:t>STM32 IDE</a:t>
            </a:r>
            <a:r>
              <a:rPr lang="ko-KR" altLang="en-US" b="1" dirty="0"/>
              <a:t> 프로젝트 구성</a:t>
            </a:r>
            <a:endParaRPr lang="en-US" altLang="ko-KR" b="1" dirty="0"/>
          </a:p>
          <a:p>
            <a:pPr marL="342900" marR="0" lvl="0" indent="-3429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2301427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62B9E-718A-DE28-A701-1096323C5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69FA9A06-A3C7-4A4C-DFF6-5C1D7D726F5E}"/>
              </a:ext>
            </a:extLst>
          </p:cNvPr>
          <p:cNvGrpSpPr/>
          <p:nvPr/>
        </p:nvGrpSpPr>
        <p:grpSpPr>
          <a:xfrm>
            <a:off x="399813" y="141797"/>
            <a:ext cx="2795525" cy="307777"/>
            <a:chOff x="426280" y="283235"/>
            <a:chExt cx="2796170" cy="30784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6BC17F4-F1B4-E713-49FA-4C43645ABB52}"/>
                </a:ext>
              </a:extLst>
            </p:cNvPr>
            <p:cNvSpPr txBox="1"/>
            <p:nvPr/>
          </p:nvSpPr>
          <p:spPr>
            <a:xfrm>
              <a:off x="426280" y="283235"/>
              <a:ext cx="149115" cy="30784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r"/>
              <a:r>
                <a:rPr lang="en-US" altLang="ko-KR" sz="20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ea typeface="G마켓 산스 TTF Bold" panose="02000000000000000000" pitchFamily="2" charset="-127"/>
                </a:rPr>
                <a:t>1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81D784C-58DE-8406-4502-E60D5A57B84B}"/>
                </a:ext>
              </a:extLst>
            </p:cNvPr>
            <p:cNvSpPr txBox="1"/>
            <p:nvPr/>
          </p:nvSpPr>
          <p:spPr>
            <a:xfrm>
              <a:off x="690724" y="298625"/>
              <a:ext cx="2531726" cy="27706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 SemiBold" pitchFamily="50" charset="-127"/>
                </a:rPr>
                <a:t>사용 목적 및 </a:t>
              </a:r>
              <a:r>
                <a:rPr lang="en-US" altLang="ko-KR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 SemiBold" pitchFamily="50" charset="-127"/>
                </a:rPr>
                <a:t>Flash Map</a:t>
              </a:r>
              <a:endParaRPr lang="ko-KR" altLang="en-US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2E71E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endParaRPr>
            </a:p>
          </p:txBody>
        </p: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4C874E1-9028-9491-3ACE-27E7CFA2E396}"/>
                </a:ext>
              </a:extLst>
            </p:cNvPr>
            <p:cNvCxnSpPr/>
            <p:nvPr/>
          </p:nvCxnSpPr>
          <p:spPr>
            <a:xfrm>
              <a:off x="623322" y="345002"/>
              <a:ext cx="0" cy="184242"/>
            </a:xfrm>
            <a:prstGeom prst="line">
              <a:avLst/>
            </a:prstGeom>
            <a:ln>
              <a:solidFill>
                <a:srgbClr val="2E71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57EA3C44-1DE1-9A9E-ABF1-DDD2E7EC3F86}"/>
              </a:ext>
            </a:extLst>
          </p:cNvPr>
          <p:cNvSpPr txBox="1"/>
          <p:nvPr/>
        </p:nvSpPr>
        <p:spPr>
          <a:xfrm>
            <a:off x="548892" y="1992575"/>
            <a:ext cx="4546617" cy="15742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400" dirty="0"/>
              <a:t>CLI</a:t>
            </a:r>
            <a:r>
              <a:rPr lang="ko-KR" altLang="en-US" sz="1400" dirty="0"/>
              <a:t> 환경 </a:t>
            </a:r>
            <a:r>
              <a:rPr lang="en-US" altLang="ko-KR" sz="1400" dirty="0"/>
              <a:t>FW </a:t>
            </a:r>
            <a:r>
              <a:rPr lang="ko-KR" altLang="en-US" sz="1400" dirty="0"/>
              <a:t>다운로드 </a:t>
            </a:r>
            <a:r>
              <a:rPr lang="en-US" altLang="ko-KR" sz="1400" dirty="0"/>
              <a:t>– UART</a:t>
            </a:r>
            <a:r>
              <a:rPr lang="ko-KR" altLang="en-US" sz="1400" dirty="0"/>
              <a:t> 통신만 활용</a:t>
            </a:r>
            <a:endParaRPr lang="en-US" altLang="ko-KR" sz="1400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400" dirty="0"/>
              <a:t>Bootloader</a:t>
            </a:r>
            <a:r>
              <a:rPr lang="ko-KR" altLang="en-US" sz="1400" dirty="0"/>
              <a:t>에서 </a:t>
            </a:r>
            <a:r>
              <a:rPr lang="en-US" altLang="ko-KR" sz="1400" dirty="0"/>
              <a:t>Application</a:t>
            </a:r>
            <a:r>
              <a:rPr lang="ko-KR" altLang="en-US" sz="1400" dirty="0"/>
              <a:t>으로 </a:t>
            </a:r>
            <a:r>
              <a:rPr lang="en-US" altLang="ko-KR" sz="1400" dirty="0"/>
              <a:t>Jump(</a:t>
            </a:r>
            <a:r>
              <a:rPr lang="ko-KR" altLang="en-US" sz="1400" dirty="0"/>
              <a:t>주소</a:t>
            </a:r>
            <a:r>
              <a:rPr lang="en-US" altLang="ko-KR" sz="1400" dirty="0"/>
              <a:t>)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400" dirty="0"/>
              <a:t>Flash Map </a:t>
            </a:r>
            <a:r>
              <a:rPr lang="ko-KR" altLang="en-US" sz="1400" dirty="0"/>
              <a:t>계층별 프로젝트 생성</a:t>
            </a:r>
            <a:endParaRPr lang="en-US" altLang="ko-KR" sz="1400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400" dirty="0"/>
              <a:t>Application/Backup App Header CRC</a:t>
            </a:r>
            <a:r>
              <a:rPr lang="ko-KR" altLang="en-US" sz="1400" dirty="0"/>
              <a:t> 확인</a:t>
            </a:r>
            <a:endParaRPr lang="en-US" altLang="ko-KR" sz="1400" dirty="0"/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altLang="ko-KR" sz="14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985DE77-AC1A-FF43-24F9-0192ED4FA800}"/>
              </a:ext>
            </a:extLst>
          </p:cNvPr>
          <p:cNvSpPr txBox="1"/>
          <p:nvPr/>
        </p:nvSpPr>
        <p:spPr>
          <a:xfrm>
            <a:off x="1460153" y="989951"/>
            <a:ext cx="2463701" cy="3216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600" b="1" dirty="0"/>
              <a:t>&lt;</a:t>
            </a:r>
            <a:r>
              <a:rPr lang="ko-KR" altLang="en-US" sz="1600" b="1" dirty="0"/>
              <a:t>사용 목적</a:t>
            </a:r>
            <a:r>
              <a:rPr lang="en-US" altLang="ko-KR" sz="1600" b="1" dirty="0"/>
              <a:t>&gt;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FE8D1E-8B59-8D3F-B367-5E5251452465}"/>
              </a:ext>
            </a:extLst>
          </p:cNvPr>
          <p:cNvSpPr txBox="1"/>
          <p:nvPr/>
        </p:nvSpPr>
        <p:spPr>
          <a:xfrm>
            <a:off x="7559643" y="989950"/>
            <a:ext cx="2463701" cy="3216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600" b="1" dirty="0"/>
              <a:t>&lt;Flash</a:t>
            </a:r>
            <a:r>
              <a:rPr lang="ko-KR" altLang="en-US" sz="1600" b="1" dirty="0"/>
              <a:t> </a:t>
            </a:r>
            <a:r>
              <a:rPr lang="en-US" altLang="ko-KR" sz="1600" b="1" dirty="0"/>
              <a:t>map(128KB)&gt;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706F7F1-5A29-D0F5-9AC5-5359B1361E94}"/>
              </a:ext>
            </a:extLst>
          </p:cNvPr>
          <p:cNvSpPr/>
          <p:nvPr/>
        </p:nvSpPr>
        <p:spPr>
          <a:xfrm>
            <a:off x="7461782" y="1535632"/>
            <a:ext cx="3504037" cy="48721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4BAA689B-9830-3724-110C-3A123E891B71}"/>
              </a:ext>
            </a:extLst>
          </p:cNvPr>
          <p:cNvCxnSpPr/>
          <p:nvPr/>
        </p:nvCxnSpPr>
        <p:spPr>
          <a:xfrm>
            <a:off x="7461783" y="5884269"/>
            <a:ext cx="3504037" cy="0"/>
          </a:xfrm>
          <a:prstGeom prst="line">
            <a:avLst/>
          </a:prstGeom>
          <a:ln w="38100">
            <a:solidFill>
              <a:srgbClr val="2A48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7D3DF7F7-3153-5D1C-044E-D841EAB650D8}"/>
              </a:ext>
            </a:extLst>
          </p:cNvPr>
          <p:cNvCxnSpPr/>
          <p:nvPr/>
        </p:nvCxnSpPr>
        <p:spPr>
          <a:xfrm>
            <a:off x="7467601" y="3523812"/>
            <a:ext cx="3504037" cy="0"/>
          </a:xfrm>
          <a:prstGeom prst="line">
            <a:avLst/>
          </a:prstGeom>
          <a:ln w="38100">
            <a:solidFill>
              <a:srgbClr val="2A48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347D821-4A77-54FC-8625-A973E19715ED}"/>
              </a:ext>
            </a:extLst>
          </p:cNvPr>
          <p:cNvSpPr txBox="1"/>
          <p:nvPr/>
        </p:nvSpPr>
        <p:spPr>
          <a:xfrm>
            <a:off x="8416720" y="5960505"/>
            <a:ext cx="1722563" cy="281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/>
              <a:t>Boot loader (24KB)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5B5759-1C2B-C51B-0154-BD9E2C936C41}"/>
              </a:ext>
            </a:extLst>
          </p:cNvPr>
          <p:cNvSpPr txBox="1"/>
          <p:nvPr/>
        </p:nvSpPr>
        <p:spPr>
          <a:xfrm>
            <a:off x="8312017" y="4239841"/>
            <a:ext cx="1827266" cy="281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/>
              <a:t>Application (50KB)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CCB0187-5293-33A8-C94F-3BDAADD2E9DD}"/>
              </a:ext>
            </a:extLst>
          </p:cNvPr>
          <p:cNvSpPr txBox="1"/>
          <p:nvPr/>
        </p:nvSpPr>
        <p:spPr>
          <a:xfrm>
            <a:off x="8101232" y="2210317"/>
            <a:ext cx="2225135" cy="281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 err="1"/>
              <a:t>Application_Backup</a:t>
            </a:r>
            <a:r>
              <a:rPr lang="en-US" altLang="ko-KR" sz="1400" dirty="0"/>
              <a:t> (50KB)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BCC2F0D-20E0-F78D-11D4-6AC641404831}"/>
              </a:ext>
            </a:extLst>
          </p:cNvPr>
          <p:cNvSpPr txBox="1"/>
          <p:nvPr/>
        </p:nvSpPr>
        <p:spPr>
          <a:xfrm>
            <a:off x="8364368" y="5436995"/>
            <a:ext cx="1827266" cy="281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/>
              <a:t>App Header (2KB)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3DBB181-B847-24EE-3F2E-2F72836148BF}"/>
              </a:ext>
            </a:extLst>
          </p:cNvPr>
          <p:cNvSpPr txBox="1"/>
          <p:nvPr/>
        </p:nvSpPr>
        <p:spPr>
          <a:xfrm>
            <a:off x="8041841" y="3121901"/>
            <a:ext cx="2472319" cy="281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/>
              <a:t>App backup Header (2KB)</a:t>
            </a: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8F83D1D6-C174-CDFD-D9BB-E9C5B5CA2E87}"/>
              </a:ext>
            </a:extLst>
          </p:cNvPr>
          <p:cNvCxnSpPr/>
          <p:nvPr/>
        </p:nvCxnSpPr>
        <p:spPr>
          <a:xfrm>
            <a:off x="7460621" y="3111983"/>
            <a:ext cx="3504037" cy="0"/>
          </a:xfrm>
          <a:prstGeom prst="line">
            <a:avLst/>
          </a:prstGeom>
          <a:ln w="38100">
            <a:solidFill>
              <a:srgbClr val="2A48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7E4D6B65-137D-19E2-7461-AC16EE15FA47}"/>
              </a:ext>
            </a:extLst>
          </p:cNvPr>
          <p:cNvCxnSpPr/>
          <p:nvPr/>
        </p:nvCxnSpPr>
        <p:spPr>
          <a:xfrm>
            <a:off x="7480401" y="5435213"/>
            <a:ext cx="3504037" cy="0"/>
          </a:xfrm>
          <a:prstGeom prst="line">
            <a:avLst/>
          </a:prstGeom>
          <a:ln w="38100">
            <a:solidFill>
              <a:srgbClr val="2A48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343D4552-177B-5B31-C541-0FE467EBE5EF}"/>
              </a:ext>
            </a:extLst>
          </p:cNvPr>
          <p:cNvSpPr txBox="1"/>
          <p:nvPr/>
        </p:nvSpPr>
        <p:spPr>
          <a:xfrm>
            <a:off x="6299183" y="5960505"/>
            <a:ext cx="1143980" cy="281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accent1"/>
                </a:solidFill>
              </a:rPr>
              <a:t>0x0800 0000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90D681E-0217-9818-F0ED-D089B5475CA2}"/>
              </a:ext>
            </a:extLst>
          </p:cNvPr>
          <p:cNvSpPr txBox="1"/>
          <p:nvPr/>
        </p:nvSpPr>
        <p:spPr>
          <a:xfrm>
            <a:off x="6299183" y="5591722"/>
            <a:ext cx="1327787" cy="281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accent1"/>
                </a:solidFill>
              </a:rPr>
              <a:t>0x0800 6000 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AAC2FD5-C3E9-680E-BAB8-D826B3EFD7D5}"/>
              </a:ext>
            </a:extLst>
          </p:cNvPr>
          <p:cNvSpPr txBox="1"/>
          <p:nvPr/>
        </p:nvSpPr>
        <p:spPr>
          <a:xfrm>
            <a:off x="6299182" y="5266555"/>
            <a:ext cx="1327787" cy="281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accent1"/>
                </a:solidFill>
              </a:rPr>
              <a:t>0x0800 6800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50C1050-65A0-10E8-601B-854E8BB33A92}"/>
              </a:ext>
            </a:extLst>
          </p:cNvPr>
          <p:cNvSpPr txBox="1"/>
          <p:nvPr/>
        </p:nvSpPr>
        <p:spPr>
          <a:xfrm>
            <a:off x="6262395" y="3335975"/>
            <a:ext cx="1327787" cy="281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accent1"/>
                </a:solidFill>
              </a:rPr>
              <a:t>0x0801 3000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FD3C6B2-9A1F-077A-313E-03111AA0AA43}"/>
              </a:ext>
            </a:extLst>
          </p:cNvPr>
          <p:cNvSpPr txBox="1"/>
          <p:nvPr/>
        </p:nvSpPr>
        <p:spPr>
          <a:xfrm>
            <a:off x="6258108" y="2989489"/>
            <a:ext cx="1327787" cy="281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accent1"/>
                </a:solidFill>
              </a:rPr>
              <a:t>0x0801 3800 </a:t>
            </a:r>
          </a:p>
        </p:txBody>
      </p:sp>
    </p:spTree>
    <p:extLst>
      <p:ext uri="{BB962C8B-B14F-4D97-AF65-F5344CB8AC3E}">
        <p14:creationId xmlns:p14="http://schemas.microsoft.com/office/powerpoint/2010/main" val="39961628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3BEE7-3CB7-12F2-FE64-E3029130A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385BE260-3B34-413C-021C-39E0AF848FBD}"/>
              </a:ext>
            </a:extLst>
          </p:cNvPr>
          <p:cNvGrpSpPr/>
          <p:nvPr/>
        </p:nvGrpSpPr>
        <p:grpSpPr>
          <a:xfrm>
            <a:off x="399814" y="141797"/>
            <a:ext cx="2101937" cy="307777"/>
            <a:chOff x="426281" y="283235"/>
            <a:chExt cx="2102420" cy="30784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88EDDFA-7CB9-4CD3-921C-41F1251B38DF}"/>
                </a:ext>
              </a:extLst>
            </p:cNvPr>
            <p:cNvSpPr txBox="1"/>
            <p:nvPr/>
          </p:nvSpPr>
          <p:spPr>
            <a:xfrm>
              <a:off x="426281" y="283235"/>
              <a:ext cx="149114" cy="30784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r"/>
              <a:r>
                <a:rPr lang="en-US" altLang="ko-KR" sz="20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ea typeface="G마켓 산스 TTF Bold" panose="02000000000000000000" pitchFamily="2" charset="-127"/>
                </a:rPr>
                <a:t>2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4715143-AAD2-FCA1-E07B-CF8ED00D8669}"/>
                </a:ext>
              </a:extLst>
            </p:cNvPr>
            <p:cNvSpPr txBox="1"/>
            <p:nvPr/>
          </p:nvSpPr>
          <p:spPr>
            <a:xfrm>
              <a:off x="690724" y="298625"/>
              <a:ext cx="1837977" cy="27706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 SemiBold" pitchFamily="50" charset="-127"/>
                </a:rPr>
                <a:t>Boot loader </a:t>
              </a:r>
              <a:r>
                <a:rPr lang="ko-KR" altLang="en-US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 SemiBold" pitchFamily="50" charset="-127"/>
                </a:rPr>
                <a:t>기능</a:t>
              </a:r>
            </a:p>
          </p:txBody>
        </p: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CB45F2D2-E260-1A11-CD7B-132C4751AC01}"/>
                </a:ext>
              </a:extLst>
            </p:cNvPr>
            <p:cNvCxnSpPr/>
            <p:nvPr/>
          </p:nvCxnSpPr>
          <p:spPr>
            <a:xfrm>
              <a:off x="623322" y="345002"/>
              <a:ext cx="0" cy="184242"/>
            </a:xfrm>
            <a:prstGeom prst="line">
              <a:avLst/>
            </a:prstGeom>
            <a:ln>
              <a:solidFill>
                <a:srgbClr val="2E71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D46208E8-30E2-FCA6-EF6B-63418105C591}"/>
              </a:ext>
            </a:extLst>
          </p:cNvPr>
          <p:cNvSpPr txBox="1"/>
          <p:nvPr/>
        </p:nvSpPr>
        <p:spPr>
          <a:xfrm>
            <a:off x="6558427" y="1833980"/>
            <a:ext cx="4546617" cy="44827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/>
              <a:t>[LED </a:t>
            </a:r>
            <a:r>
              <a:rPr lang="ko-KR" altLang="en-US" sz="1400" dirty="0"/>
              <a:t>항상 점등</a:t>
            </a:r>
            <a:r>
              <a:rPr lang="en-US" altLang="ko-KR" sz="1400" dirty="0"/>
              <a:t>]</a:t>
            </a:r>
          </a:p>
          <a:p>
            <a:pPr>
              <a:lnSpc>
                <a:spcPct val="150000"/>
              </a:lnSpc>
            </a:pPr>
            <a:endParaRPr lang="en-US" altLang="ko-KR" sz="1400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400" dirty="0"/>
              <a:t>Boot State </a:t>
            </a:r>
            <a:r>
              <a:rPr lang="ko-KR" altLang="en-US" sz="1400" dirty="0"/>
              <a:t>확인</a:t>
            </a:r>
            <a:endParaRPr lang="en-US" altLang="ko-KR" sz="1400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400" dirty="0"/>
              <a:t>CRC </a:t>
            </a:r>
            <a:r>
              <a:rPr lang="ko-KR" altLang="en-US" sz="1400" dirty="0"/>
              <a:t>확인 </a:t>
            </a:r>
            <a:r>
              <a:rPr lang="en-US" altLang="ko-KR" sz="1400" dirty="0" err="1"/>
              <a:t>app,backup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en-US" altLang="ko-KR" sz="1400" dirty="0"/>
              <a:t>&lt;CRC PASS&gt;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400" dirty="0"/>
              <a:t>App</a:t>
            </a:r>
            <a:r>
              <a:rPr lang="ko-KR" altLang="en-US" sz="1400" dirty="0"/>
              <a:t> 실행</a:t>
            </a:r>
            <a:endParaRPr lang="en-US" altLang="ko-KR" sz="1400" dirty="0"/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en-US" altLang="ko-KR" sz="1400" dirty="0"/>
              <a:t>&lt;CRC</a:t>
            </a:r>
            <a:r>
              <a:rPr lang="ko-KR" altLang="en-US" sz="1400" dirty="0"/>
              <a:t> </a:t>
            </a:r>
            <a:r>
              <a:rPr lang="en-US" altLang="ko-KR" sz="1400" dirty="0"/>
              <a:t>ERROR&gt;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400" dirty="0"/>
              <a:t>Backup CRC</a:t>
            </a:r>
            <a:r>
              <a:rPr lang="ko-KR" altLang="en-US" sz="1400" dirty="0"/>
              <a:t> 확인 </a:t>
            </a:r>
            <a:r>
              <a:rPr lang="en-US" altLang="ko-KR" sz="1400" dirty="0">
                <a:sym typeface="Wingdings" panose="05000000000000000000" pitchFamily="2" charset="2"/>
              </a:rPr>
              <a:t> ERROR</a:t>
            </a:r>
            <a:r>
              <a:rPr lang="ko-KR" altLang="en-US" sz="1400" dirty="0">
                <a:sym typeface="Wingdings" panose="05000000000000000000" pitchFamily="2" charset="2"/>
              </a:rPr>
              <a:t>시 </a:t>
            </a:r>
            <a:r>
              <a:rPr lang="en-US" altLang="ko-KR" sz="1400" dirty="0">
                <a:sym typeface="Wingdings" panose="05000000000000000000" pitchFamily="2" charset="2"/>
              </a:rPr>
              <a:t>YMODEM </a:t>
            </a:r>
            <a:r>
              <a:rPr lang="ko-KR" altLang="en-US" sz="1400" dirty="0">
                <a:sym typeface="Wingdings" panose="05000000000000000000" pitchFamily="2" charset="2"/>
              </a:rPr>
              <a:t>수신 로직</a:t>
            </a:r>
            <a:endParaRPr lang="en-US" altLang="ko-KR" sz="1400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400" dirty="0"/>
              <a:t>App </a:t>
            </a:r>
            <a:r>
              <a:rPr lang="ko-KR" altLang="en-US" sz="1400" dirty="0"/>
              <a:t>영역 </a:t>
            </a:r>
            <a:r>
              <a:rPr lang="en-US" altLang="ko-KR" sz="1400" dirty="0"/>
              <a:t>flash erase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altLang="ko-KR" sz="1400" dirty="0"/>
              <a:t>App </a:t>
            </a:r>
            <a:r>
              <a:rPr lang="ko-KR" altLang="en-US" sz="1400" dirty="0"/>
              <a:t>영역 </a:t>
            </a:r>
            <a:r>
              <a:rPr lang="en-US" altLang="ko-KR" sz="1400" dirty="0"/>
              <a:t>flash write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400" dirty="0"/>
              <a:t>App CRC</a:t>
            </a:r>
            <a:r>
              <a:rPr lang="ko-KR" altLang="en-US" sz="1400" dirty="0"/>
              <a:t> 확인 </a:t>
            </a:r>
            <a:r>
              <a:rPr lang="en-US" altLang="ko-KR" sz="1400" dirty="0">
                <a:sym typeface="Wingdings" panose="05000000000000000000" pitchFamily="2" charset="2"/>
              </a:rPr>
              <a:t> 1</a:t>
            </a:r>
            <a:r>
              <a:rPr lang="ko-KR" altLang="en-US" sz="1400" dirty="0">
                <a:sym typeface="Wingdings" panose="05000000000000000000" pitchFamily="2" charset="2"/>
              </a:rPr>
              <a:t>번 항목 부터 재실행</a:t>
            </a:r>
            <a:endParaRPr lang="en-US" altLang="ko-KR" sz="1400" dirty="0">
              <a:sym typeface="Wingdings" panose="05000000000000000000" pitchFamily="2" charset="2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400" dirty="0"/>
              <a:t>App CRC PASS</a:t>
            </a:r>
            <a:r>
              <a:rPr lang="ko-KR" altLang="en-US" sz="1400" dirty="0"/>
              <a:t> 이후 </a:t>
            </a:r>
            <a:r>
              <a:rPr lang="en-US" altLang="ko-KR" sz="1400" dirty="0"/>
              <a:t>App </a:t>
            </a:r>
            <a:r>
              <a:rPr lang="ko-KR" altLang="en-US" sz="1400" dirty="0"/>
              <a:t>실행</a:t>
            </a:r>
            <a:endParaRPr lang="en-US" altLang="ko-KR" sz="14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AC1956C-BB25-F888-24DE-E2655ECA46C9}"/>
              </a:ext>
            </a:extLst>
          </p:cNvPr>
          <p:cNvSpPr txBox="1"/>
          <p:nvPr/>
        </p:nvSpPr>
        <p:spPr>
          <a:xfrm>
            <a:off x="1172770" y="990435"/>
            <a:ext cx="2463701" cy="3216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600" b="1" dirty="0"/>
              <a:t>&lt;Boot state&gt;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85EAC2-8BBF-F59A-FDC3-79AC4273FE74}"/>
              </a:ext>
            </a:extLst>
          </p:cNvPr>
          <p:cNvSpPr txBox="1"/>
          <p:nvPr/>
        </p:nvSpPr>
        <p:spPr>
          <a:xfrm>
            <a:off x="7186640" y="995240"/>
            <a:ext cx="2463701" cy="3216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600" b="1" dirty="0"/>
              <a:t>&lt;Boot  State=0&gt;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BFA090-3E47-ABBB-F355-1423885D0D4F}"/>
              </a:ext>
            </a:extLst>
          </p:cNvPr>
          <p:cNvSpPr txBox="1"/>
          <p:nvPr/>
        </p:nvSpPr>
        <p:spPr>
          <a:xfrm>
            <a:off x="815433" y="1807419"/>
            <a:ext cx="3930738" cy="6047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400" dirty="0"/>
              <a:t>Boot state = 0 </a:t>
            </a:r>
            <a:r>
              <a:rPr lang="ko-KR" altLang="en-US" sz="1400" dirty="0"/>
              <a:t>인 경우 </a:t>
            </a:r>
            <a:r>
              <a:rPr lang="en-US" altLang="ko-KR" sz="1400" dirty="0">
                <a:sym typeface="Wingdings" panose="05000000000000000000" pitchFamily="2" charset="2"/>
              </a:rPr>
              <a:t> app </a:t>
            </a:r>
            <a:r>
              <a:rPr lang="ko-KR" altLang="en-US" sz="1400" dirty="0">
                <a:sym typeface="Wingdings" panose="05000000000000000000" pitchFamily="2" charset="2"/>
              </a:rPr>
              <a:t>진입</a:t>
            </a:r>
            <a:endParaRPr lang="en-US" altLang="ko-KR" sz="1400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400" dirty="0"/>
              <a:t>Boot state = 1 </a:t>
            </a:r>
            <a:r>
              <a:rPr lang="ko-KR" altLang="en-US" sz="1400" dirty="0"/>
              <a:t>인 경우 </a:t>
            </a:r>
            <a:r>
              <a:rPr lang="en-US" altLang="ko-KR" sz="1400" dirty="0">
                <a:sym typeface="Wingdings" panose="05000000000000000000" pitchFamily="2" charset="2"/>
              </a:rPr>
              <a:t> bootloader </a:t>
            </a:r>
            <a:r>
              <a:rPr lang="ko-KR" altLang="en-US" sz="1400" dirty="0">
                <a:sym typeface="Wingdings" panose="05000000000000000000" pitchFamily="2" charset="2"/>
              </a:rPr>
              <a:t>진행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24847171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162C4-8752-EFC8-9881-1F8E30964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770A7050-8389-405E-E1DB-B205FBD293A9}"/>
              </a:ext>
            </a:extLst>
          </p:cNvPr>
          <p:cNvGrpSpPr/>
          <p:nvPr/>
        </p:nvGrpSpPr>
        <p:grpSpPr>
          <a:xfrm>
            <a:off x="399814" y="141797"/>
            <a:ext cx="2101937" cy="307777"/>
            <a:chOff x="426281" y="283235"/>
            <a:chExt cx="2102420" cy="30784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3B1EB0E-D6E6-E7CD-B194-7D98924E7A7D}"/>
                </a:ext>
              </a:extLst>
            </p:cNvPr>
            <p:cNvSpPr txBox="1"/>
            <p:nvPr/>
          </p:nvSpPr>
          <p:spPr>
            <a:xfrm>
              <a:off x="426281" y="283235"/>
              <a:ext cx="149114" cy="30784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r"/>
              <a:r>
                <a:rPr lang="en-US" altLang="ko-KR" sz="20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ea typeface="G마켓 산스 TTF Bold" panose="02000000000000000000" pitchFamily="2" charset="-127"/>
                </a:rPr>
                <a:t>2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2A914F3-ECAB-8854-38FF-0C03FB9371E4}"/>
                </a:ext>
              </a:extLst>
            </p:cNvPr>
            <p:cNvSpPr txBox="1"/>
            <p:nvPr/>
          </p:nvSpPr>
          <p:spPr>
            <a:xfrm>
              <a:off x="690724" y="298625"/>
              <a:ext cx="1837977" cy="27706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 SemiBold" pitchFamily="50" charset="-127"/>
                </a:rPr>
                <a:t>Boot loader </a:t>
              </a:r>
              <a:r>
                <a:rPr lang="ko-KR" altLang="en-US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 SemiBold" pitchFamily="50" charset="-127"/>
                </a:rPr>
                <a:t>기능</a:t>
              </a:r>
            </a:p>
          </p:txBody>
        </p: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96E93B7C-EAB8-47D2-9FC2-AECBD7B6348D}"/>
                </a:ext>
              </a:extLst>
            </p:cNvPr>
            <p:cNvCxnSpPr/>
            <p:nvPr/>
          </p:nvCxnSpPr>
          <p:spPr>
            <a:xfrm>
              <a:off x="623322" y="345002"/>
              <a:ext cx="0" cy="184242"/>
            </a:xfrm>
            <a:prstGeom prst="line">
              <a:avLst/>
            </a:prstGeom>
            <a:ln>
              <a:solidFill>
                <a:srgbClr val="2E71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D895B309-3A86-A3C3-68AE-CF2B2E4B768B}"/>
              </a:ext>
            </a:extLst>
          </p:cNvPr>
          <p:cNvSpPr txBox="1"/>
          <p:nvPr/>
        </p:nvSpPr>
        <p:spPr>
          <a:xfrm>
            <a:off x="912113" y="1854786"/>
            <a:ext cx="4546617" cy="15742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/>
              <a:t>[LED </a:t>
            </a:r>
            <a:r>
              <a:rPr lang="ko-KR" altLang="en-US" sz="1400" dirty="0"/>
              <a:t>항상 점등</a:t>
            </a:r>
            <a:r>
              <a:rPr lang="en-US" altLang="ko-KR" sz="1400" dirty="0"/>
              <a:t>]</a:t>
            </a:r>
          </a:p>
          <a:p>
            <a:pPr>
              <a:lnSpc>
                <a:spcPct val="150000"/>
              </a:lnSpc>
            </a:pPr>
            <a:endParaRPr lang="en-US" altLang="ko-KR" sz="1400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400" dirty="0"/>
              <a:t>Boot State </a:t>
            </a:r>
            <a:r>
              <a:rPr lang="ko-KR" altLang="en-US" sz="1400" dirty="0"/>
              <a:t>확인</a:t>
            </a:r>
            <a:endParaRPr lang="en-US" altLang="ko-KR" sz="1400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400" dirty="0"/>
              <a:t>Bootloader </a:t>
            </a:r>
            <a:r>
              <a:rPr lang="ko-KR" altLang="en-US" sz="1400" dirty="0"/>
              <a:t>진입 </a:t>
            </a:r>
            <a:endParaRPr lang="en-US" altLang="ko-KR" sz="1400" dirty="0"/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altLang="ko-KR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C80551-565C-1953-F7E7-574A000D268D}"/>
              </a:ext>
            </a:extLst>
          </p:cNvPr>
          <p:cNvSpPr txBox="1"/>
          <p:nvPr/>
        </p:nvSpPr>
        <p:spPr>
          <a:xfrm>
            <a:off x="7186640" y="995240"/>
            <a:ext cx="2463701" cy="3216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600" b="1" dirty="0"/>
              <a:t>&lt;Bootloader </a:t>
            </a:r>
            <a:r>
              <a:rPr lang="ko-KR" altLang="en-US" sz="1600" b="1" dirty="0"/>
              <a:t>모드 선택</a:t>
            </a:r>
            <a:r>
              <a:rPr lang="en-US" altLang="ko-KR" sz="1600" b="1" dirty="0"/>
              <a:t>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0DE03F-59EB-34B2-A0BB-9D99360FE9DA}"/>
              </a:ext>
            </a:extLst>
          </p:cNvPr>
          <p:cNvSpPr txBox="1"/>
          <p:nvPr/>
        </p:nvSpPr>
        <p:spPr>
          <a:xfrm>
            <a:off x="1434628" y="995240"/>
            <a:ext cx="2463701" cy="3216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600" b="1" dirty="0"/>
              <a:t>&lt;Boot  State=1&gt;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572130-8A1A-8DA9-85D0-3545BECB9850}"/>
              </a:ext>
            </a:extLst>
          </p:cNvPr>
          <p:cNvSpPr txBox="1"/>
          <p:nvPr/>
        </p:nvSpPr>
        <p:spPr>
          <a:xfrm>
            <a:off x="6489953" y="1854786"/>
            <a:ext cx="4546617" cy="31900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/>
              <a:t>[LED </a:t>
            </a:r>
            <a:r>
              <a:rPr lang="ko-KR" altLang="en-US" sz="1400" dirty="0"/>
              <a:t>항상 점등</a:t>
            </a:r>
            <a:r>
              <a:rPr lang="en-US" altLang="ko-KR" sz="1400" dirty="0"/>
              <a:t>]</a:t>
            </a:r>
          </a:p>
          <a:p>
            <a:pPr>
              <a:lnSpc>
                <a:spcPct val="150000"/>
              </a:lnSpc>
            </a:pP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en-US" altLang="ko-KR" sz="1400" dirty="0"/>
              <a:t>&lt;CLI</a:t>
            </a:r>
            <a:r>
              <a:rPr lang="ko-KR" altLang="en-US" sz="1400" dirty="0"/>
              <a:t>에서 명령어 입력</a:t>
            </a:r>
            <a:r>
              <a:rPr lang="en-US" altLang="ko-KR" sz="1400" dirty="0"/>
              <a:t>&gt;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400" dirty="0"/>
              <a:t>Help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400" dirty="0"/>
              <a:t>State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400" dirty="0"/>
              <a:t>Download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400" dirty="0"/>
              <a:t>Verify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400" dirty="0"/>
              <a:t>Restore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400" dirty="0"/>
              <a:t>Jump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30976945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13E79-2B1B-C543-256A-CDCF15E4E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63BC01B1-C0BD-A99A-D150-F9E561214335}"/>
              </a:ext>
            </a:extLst>
          </p:cNvPr>
          <p:cNvGrpSpPr/>
          <p:nvPr/>
        </p:nvGrpSpPr>
        <p:grpSpPr>
          <a:xfrm>
            <a:off x="399814" y="141797"/>
            <a:ext cx="2101937" cy="307777"/>
            <a:chOff x="426281" y="283235"/>
            <a:chExt cx="2102420" cy="30784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37EB649-3D56-EBD6-A658-F086F4215880}"/>
                </a:ext>
              </a:extLst>
            </p:cNvPr>
            <p:cNvSpPr txBox="1"/>
            <p:nvPr/>
          </p:nvSpPr>
          <p:spPr>
            <a:xfrm>
              <a:off x="426281" y="283235"/>
              <a:ext cx="149114" cy="30784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r"/>
              <a:r>
                <a:rPr lang="en-US" altLang="ko-KR" sz="20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ea typeface="G마켓 산스 TTF Bold" panose="02000000000000000000" pitchFamily="2" charset="-127"/>
                </a:rPr>
                <a:t>2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5543995-5F86-14D7-5AE6-A2304974F721}"/>
                </a:ext>
              </a:extLst>
            </p:cNvPr>
            <p:cNvSpPr txBox="1"/>
            <p:nvPr/>
          </p:nvSpPr>
          <p:spPr>
            <a:xfrm>
              <a:off x="690724" y="298625"/>
              <a:ext cx="1837977" cy="27706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 SemiBold" pitchFamily="50" charset="-127"/>
                </a:rPr>
                <a:t>Boot loader </a:t>
              </a:r>
              <a:r>
                <a:rPr lang="ko-KR" altLang="en-US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 SemiBold" pitchFamily="50" charset="-127"/>
                </a:rPr>
                <a:t>기능</a:t>
              </a:r>
            </a:p>
          </p:txBody>
        </p: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19FBD43E-8B38-4615-116B-529A5CF1E445}"/>
                </a:ext>
              </a:extLst>
            </p:cNvPr>
            <p:cNvCxnSpPr/>
            <p:nvPr/>
          </p:nvCxnSpPr>
          <p:spPr>
            <a:xfrm>
              <a:off x="623322" y="345002"/>
              <a:ext cx="0" cy="184242"/>
            </a:xfrm>
            <a:prstGeom prst="line">
              <a:avLst/>
            </a:prstGeom>
            <a:ln>
              <a:solidFill>
                <a:srgbClr val="2E71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1AE1D07-9FFE-E02E-F27E-8C1FACFCE801}"/>
              </a:ext>
            </a:extLst>
          </p:cNvPr>
          <p:cNvSpPr txBox="1"/>
          <p:nvPr/>
        </p:nvSpPr>
        <p:spPr>
          <a:xfrm>
            <a:off x="843248" y="1833980"/>
            <a:ext cx="4133288" cy="9278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/>
              <a:t>[LED </a:t>
            </a:r>
            <a:r>
              <a:rPr lang="ko-KR" altLang="en-US" sz="1400" dirty="0"/>
              <a:t>항상 점등</a:t>
            </a:r>
            <a:r>
              <a:rPr lang="en-US" altLang="ko-KR" sz="1400" dirty="0"/>
              <a:t>]</a:t>
            </a:r>
          </a:p>
          <a:p>
            <a:pPr>
              <a:lnSpc>
                <a:spcPct val="150000"/>
              </a:lnSpc>
            </a:pPr>
            <a:endParaRPr lang="en-US" altLang="ko-KR" sz="1400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400" dirty="0"/>
              <a:t>사용 가능한 명령어 나열</a:t>
            </a:r>
            <a:endParaRPr lang="en-US" altLang="ko-KR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BB0CCF-B9AE-FFB1-E870-C5CFB46BD63D}"/>
              </a:ext>
            </a:extLst>
          </p:cNvPr>
          <p:cNvSpPr txBox="1"/>
          <p:nvPr/>
        </p:nvSpPr>
        <p:spPr>
          <a:xfrm>
            <a:off x="1376783" y="995240"/>
            <a:ext cx="2603034" cy="3216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600" b="1" dirty="0"/>
              <a:t>&lt;Bootloader CMD : Help&gt;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50CEBA-74D1-1729-BA5C-317C6F1CD426}"/>
              </a:ext>
            </a:extLst>
          </p:cNvPr>
          <p:cNvSpPr txBox="1"/>
          <p:nvPr/>
        </p:nvSpPr>
        <p:spPr>
          <a:xfrm>
            <a:off x="6769430" y="1833980"/>
            <a:ext cx="4133288" cy="12510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/>
              <a:t>[LED </a:t>
            </a:r>
            <a:r>
              <a:rPr lang="ko-KR" altLang="en-US" sz="1400" dirty="0"/>
              <a:t>항상 점등</a:t>
            </a:r>
            <a:r>
              <a:rPr lang="en-US" altLang="ko-KR" sz="1400" dirty="0"/>
              <a:t>]</a:t>
            </a:r>
          </a:p>
          <a:p>
            <a:pPr>
              <a:lnSpc>
                <a:spcPct val="150000"/>
              </a:lnSpc>
            </a:pPr>
            <a:endParaRPr lang="en-US" altLang="ko-KR" sz="1400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400" dirty="0"/>
              <a:t>현재 </a:t>
            </a:r>
            <a:r>
              <a:rPr lang="en-US" altLang="ko-KR" sz="1400" dirty="0"/>
              <a:t>APP, Backup</a:t>
            </a:r>
            <a:r>
              <a:rPr lang="ko-KR" altLang="en-US" sz="1400" dirty="0"/>
              <a:t> 상태 확인</a:t>
            </a:r>
            <a:endParaRPr lang="en-US" altLang="ko-KR" sz="1400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400" dirty="0"/>
              <a:t>CRC , Header </a:t>
            </a:r>
            <a:r>
              <a:rPr lang="ko-KR" altLang="en-US" sz="1400" dirty="0"/>
              <a:t>등 확인</a:t>
            </a:r>
            <a:endParaRPr lang="en-US" altLang="ko-KR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0F7058-D25A-AE99-DC75-B16349B82A85}"/>
              </a:ext>
            </a:extLst>
          </p:cNvPr>
          <p:cNvSpPr txBox="1"/>
          <p:nvPr/>
        </p:nvSpPr>
        <p:spPr>
          <a:xfrm>
            <a:off x="7302965" y="995240"/>
            <a:ext cx="2603034" cy="3216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600" b="1" dirty="0"/>
              <a:t>&lt;Bootloader CMD : State&gt;</a:t>
            </a:r>
          </a:p>
        </p:txBody>
      </p:sp>
    </p:spTree>
    <p:extLst>
      <p:ext uri="{BB962C8B-B14F-4D97-AF65-F5344CB8AC3E}">
        <p14:creationId xmlns:p14="http://schemas.microsoft.com/office/powerpoint/2010/main" val="35095977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C4571-8D85-48D7-FC6A-256D1B285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8ABC7CF4-FC6C-9B0B-F6A8-06C592711D24}"/>
              </a:ext>
            </a:extLst>
          </p:cNvPr>
          <p:cNvGrpSpPr/>
          <p:nvPr/>
        </p:nvGrpSpPr>
        <p:grpSpPr>
          <a:xfrm>
            <a:off x="399814" y="141797"/>
            <a:ext cx="2101937" cy="307777"/>
            <a:chOff x="426281" y="283235"/>
            <a:chExt cx="2102420" cy="30784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E509B62-4AC0-A17C-6B66-E9A81100CAF2}"/>
                </a:ext>
              </a:extLst>
            </p:cNvPr>
            <p:cNvSpPr txBox="1"/>
            <p:nvPr/>
          </p:nvSpPr>
          <p:spPr>
            <a:xfrm>
              <a:off x="426281" y="283235"/>
              <a:ext cx="149114" cy="30784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r"/>
              <a:r>
                <a:rPr lang="en-US" altLang="ko-KR" sz="20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ea typeface="G마켓 산스 TTF Bold" panose="02000000000000000000" pitchFamily="2" charset="-127"/>
                </a:rPr>
                <a:t>2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A881528-6E07-A175-7E89-86F685152414}"/>
                </a:ext>
              </a:extLst>
            </p:cNvPr>
            <p:cNvSpPr txBox="1"/>
            <p:nvPr/>
          </p:nvSpPr>
          <p:spPr>
            <a:xfrm>
              <a:off x="690724" y="298625"/>
              <a:ext cx="1837977" cy="27706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 SemiBold" pitchFamily="50" charset="-127"/>
                </a:rPr>
                <a:t>Boot loader </a:t>
              </a:r>
              <a:r>
                <a:rPr lang="ko-KR" altLang="en-US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 SemiBold" pitchFamily="50" charset="-127"/>
                </a:rPr>
                <a:t>기능</a:t>
              </a:r>
            </a:p>
          </p:txBody>
        </p: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708F4A05-4CEE-50B6-EB63-799E5C00C050}"/>
                </a:ext>
              </a:extLst>
            </p:cNvPr>
            <p:cNvCxnSpPr/>
            <p:nvPr/>
          </p:nvCxnSpPr>
          <p:spPr>
            <a:xfrm>
              <a:off x="623322" y="345002"/>
              <a:ext cx="0" cy="184242"/>
            </a:xfrm>
            <a:prstGeom prst="line">
              <a:avLst/>
            </a:prstGeom>
            <a:ln>
              <a:solidFill>
                <a:srgbClr val="2E71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518D497-8D41-E2C4-AE67-CA0BF834D77A}"/>
              </a:ext>
            </a:extLst>
          </p:cNvPr>
          <p:cNvSpPr txBox="1"/>
          <p:nvPr/>
        </p:nvSpPr>
        <p:spPr>
          <a:xfrm>
            <a:off x="843248" y="1833980"/>
            <a:ext cx="4133288" cy="383637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/>
              <a:t>[LED </a:t>
            </a:r>
            <a:r>
              <a:rPr lang="ko-KR" altLang="en-US" sz="1400" dirty="0"/>
              <a:t>항상 점등</a:t>
            </a:r>
            <a:r>
              <a:rPr lang="en-US" altLang="ko-KR" sz="1400" dirty="0"/>
              <a:t>]</a:t>
            </a:r>
          </a:p>
          <a:p>
            <a:pPr>
              <a:lnSpc>
                <a:spcPct val="150000"/>
              </a:lnSpc>
            </a:pPr>
            <a:endParaRPr lang="en-US" altLang="ko-KR" sz="1400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400" dirty="0"/>
              <a:t>UART </a:t>
            </a:r>
            <a:r>
              <a:rPr lang="ko-KR" altLang="en-US" sz="1400" dirty="0"/>
              <a:t>다운로드 대기 상태 진입</a:t>
            </a:r>
            <a:endParaRPr lang="en-US" altLang="ko-KR" sz="1400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400" dirty="0"/>
              <a:t>Flash Backup</a:t>
            </a:r>
            <a:r>
              <a:rPr lang="ko-KR" altLang="en-US" sz="1400" dirty="0"/>
              <a:t> 영역 </a:t>
            </a:r>
            <a:r>
              <a:rPr lang="en-US" altLang="ko-KR" sz="1400" dirty="0"/>
              <a:t>erase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400" dirty="0" err="1"/>
              <a:t>App.bin</a:t>
            </a:r>
            <a:r>
              <a:rPr lang="en-US" altLang="ko-KR" sz="1400" dirty="0"/>
              <a:t> write – Flash Backup </a:t>
            </a:r>
            <a:r>
              <a:rPr lang="ko-KR" altLang="en-US" sz="1400" dirty="0"/>
              <a:t>영역</a:t>
            </a:r>
            <a:endParaRPr lang="en-US" altLang="ko-KR" sz="1400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400" dirty="0"/>
              <a:t>Backup CRC </a:t>
            </a:r>
            <a:r>
              <a:rPr lang="ko-KR" altLang="en-US" sz="1400" dirty="0"/>
              <a:t>검증</a:t>
            </a:r>
            <a:endParaRPr lang="en-US" altLang="ko-KR" sz="1400" dirty="0"/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en-US" altLang="ko-KR" sz="1400" dirty="0"/>
              <a:t>&lt;CRC PASS&gt;</a:t>
            </a:r>
          </a:p>
          <a:p>
            <a:pPr>
              <a:lnSpc>
                <a:spcPct val="150000"/>
              </a:lnSpc>
            </a:pPr>
            <a:r>
              <a:rPr lang="en-US" altLang="ko-KR" sz="1400" dirty="0"/>
              <a:t>‘restore available’</a:t>
            </a:r>
            <a:r>
              <a:rPr lang="ko-KR" altLang="en-US" sz="1400" dirty="0"/>
              <a:t>출력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en-US" altLang="ko-KR" sz="1400" dirty="0"/>
              <a:t>&lt;CRC ERROR&gt;</a:t>
            </a:r>
          </a:p>
          <a:p>
            <a:pPr>
              <a:lnSpc>
                <a:spcPct val="150000"/>
              </a:lnSpc>
            </a:pPr>
            <a:r>
              <a:rPr lang="en-US" altLang="ko-KR" sz="1400" dirty="0"/>
              <a:t>1</a:t>
            </a:r>
            <a:r>
              <a:rPr lang="ko-KR" altLang="en-US" sz="1400" dirty="0"/>
              <a:t>단계로 되돌아감</a:t>
            </a:r>
            <a:endParaRPr lang="en-US" altLang="ko-KR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9C9305-B07D-EBA3-03EC-4B804E8522A7}"/>
              </a:ext>
            </a:extLst>
          </p:cNvPr>
          <p:cNvSpPr txBox="1"/>
          <p:nvPr/>
        </p:nvSpPr>
        <p:spPr>
          <a:xfrm>
            <a:off x="1209142" y="1007500"/>
            <a:ext cx="3218078" cy="3216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600" b="1" dirty="0"/>
              <a:t>&lt;Bootloader CMD : Download&gt;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6B34A7-DB9A-4C81-5011-AAB6E53DD3A9}"/>
              </a:ext>
            </a:extLst>
          </p:cNvPr>
          <p:cNvSpPr txBox="1"/>
          <p:nvPr/>
        </p:nvSpPr>
        <p:spPr>
          <a:xfrm>
            <a:off x="7302964" y="995240"/>
            <a:ext cx="3067855" cy="3216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600" b="1" dirty="0"/>
              <a:t>&lt;Bootloader CMD : </a:t>
            </a:r>
            <a:r>
              <a:rPr lang="en-US" altLang="ko-KR" sz="1600" b="1" dirty="0" err="1"/>
              <a:t>verifiy</a:t>
            </a:r>
            <a:r>
              <a:rPr lang="en-US" altLang="ko-KR" sz="1600" b="1" dirty="0"/>
              <a:t>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6C8C84-8FAE-D0B5-1EC8-D6BDFE23A07D}"/>
              </a:ext>
            </a:extLst>
          </p:cNvPr>
          <p:cNvSpPr txBox="1"/>
          <p:nvPr/>
        </p:nvSpPr>
        <p:spPr>
          <a:xfrm>
            <a:off x="6770247" y="1833979"/>
            <a:ext cx="4133288" cy="12510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/>
              <a:t>[LED </a:t>
            </a:r>
            <a:r>
              <a:rPr lang="ko-KR" altLang="en-US" sz="1400" dirty="0"/>
              <a:t>항상 점등</a:t>
            </a:r>
            <a:r>
              <a:rPr lang="en-US" altLang="ko-KR" sz="1400" dirty="0"/>
              <a:t>]</a:t>
            </a:r>
          </a:p>
          <a:p>
            <a:pPr>
              <a:lnSpc>
                <a:spcPct val="150000"/>
              </a:lnSpc>
            </a:pPr>
            <a:endParaRPr lang="en-US" altLang="ko-KR" sz="1400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400" dirty="0"/>
              <a:t>APP, Backup </a:t>
            </a:r>
            <a:r>
              <a:rPr lang="ko-KR" altLang="en-US" sz="1400" dirty="0"/>
              <a:t>영역 </a:t>
            </a:r>
            <a:r>
              <a:rPr lang="en-US" altLang="ko-KR" sz="1400" dirty="0"/>
              <a:t>CRC </a:t>
            </a:r>
            <a:r>
              <a:rPr lang="ko-KR" altLang="en-US" sz="1400" dirty="0"/>
              <a:t>검증</a:t>
            </a:r>
            <a:endParaRPr lang="en-US" altLang="ko-KR" sz="1400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400" dirty="0"/>
              <a:t>CRC </a:t>
            </a:r>
            <a:r>
              <a:rPr lang="ko-KR" altLang="en-US" sz="1400" dirty="0"/>
              <a:t>검증 여부 출력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5248436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5E51B-9374-8C7D-CA2F-ABA7838F0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5BBE4FD7-92B6-6876-2E9B-DF4DB5F7A34F}"/>
              </a:ext>
            </a:extLst>
          </p:cNvPr>
          <p:cNvGrpSpPr/>
          <p:nvPr/>
        </p:nvGrpSpPr>
        <p:grpSpPr>
          <a:xfrm>
            <a:off x="399814" y="141797"/>
            <a:ext cx="2101937" cy="307777"/>
            <a:chOff x="426281" y="283235"/>
            <a:chExt cx="2102420" cy="30784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C4A0158-16B7-EBC5-6A39-C2AE30EA83DB}"/>
                </a:ext>
              </a:extLst>
            </p:cNvPr>
            <p:cNvSpPr txBox="1"/>
            <p:nvPr/>
          </p:nvSpPr>
          <p:spPr>
            <a:xfrm>
              <a:off x="426281" y="283235"/>
              <a:ext cx="149114" cy="30784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r"/>
              <a:r>
                <a:rPr lang="en-US" altLang="ko-KR" sz="20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ea typeface="G마켓 산스 TTF Bold" panose="02000000000000000000" pitchFamily="2" charset="-127"/>
                </a:rPr>
                <a:t>2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E7E9B02-CB44-81A3-300D-F074C4617129}"/>
                </a:ext>
              </a:extLst>
            </p:cNvPr>
            <p:cNvSpPr txBox="1"/>
            <p:nvPr/>
          </p:nvSpPr>
          <p:spPr>
            <a:xfrm>
              <a:off x="690724" y="298625"/>
              <a:ext cx="1837977" cy="27706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 SemiBold" pitchFamily="50" charset="-127"/>
                </a:rPr>
                <a:t>Boot loader </a:t>
              </a:r>
              <a:r>
                <a:rPr lang="ko-KR" altLang="en-US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 SemiBold" pitchFamily="50" charset="-127"/>
                </a:rPr>
                <a:t>기능</a:t>
              </a:r>
            </a:p>
          </p:txBody>
        </p: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7DC3191B-F730-955C-9317-3F2497565C82}"/>
                </a:ext>
              </a:extLst>
            </p:cNvPr>
            <p:cNvCxnSpPr/>
            <p:nvPr/>
          </p:nvCxnSpPr>
          <p:spPr>
            <a:xfrm>
              <a:off x="623322" y="345002"/>
              <a:ext cx="0" cy="184242"/>
            </a:xfrm>
            <a:prstGeom prst="line">
              <a:avLst/>
            </a:prstGeom>
            <a:ln>
              <a:solidFill>
                <a:srgbClr val="2E71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60760C6-3656-637C-102B-E0E2DE28B8F0}"/>
              </a:ext>
            </a:extLst>
          </p:cNvPr>
          <p:cNvSpPr txBox="1"/>
          <p:nvPr/>
        </p:nvSpPr>
        <p:spPr>
          <a:xfrm>
            <a:off x="843248" y="1833980"/>
            <a:ext cx="4133288" cy="35132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/>
              <a:t>[LED </a:t>
            </a:r>
            <a:r>
              <a:rPr lang="ko-KR" altLang="en-US" sz="1400" dirty="0"/>
              <a:t>항상 점등</a:t>
            </a:r>
            <a:r>
              <a:rPr lang="en-US" altLang="ko-KR" sz="1400" dirty="0"/>
              <a:t>]</a:t>
            </a:r>
          </a:p>
          <a:p>
            <a:pPr>
              <a:lnSpc>
                <a:spcPct val="150000"/>
              </a:lnSpc>
            </a:pPr>
            <a:endParaRPr lang="en-US" altLang="ko-KR" sz="1400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400" dirty="0"/>
              <a:t>App </a:t>
            </a:r>
            <a:r>
              <a:rPr lang="ko-KR" altLang="en-US" sz="1400" dirty="0"/>
              <a:t>영역 </a:t>
            </a:r>
            <a:r>
              <a:rPr lang="en-US" altLang="ko-KR" sz="1400" dirty="0"/>
              <a:t>erase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400" dirty="0"/>
              <a:t>Backup </a:t>
            </a:r>
            <a:r>
              <a:rPr lang="en-US" altLang="ko-KR" sz="1400" dirty="0">
                <a:sym typeface="Wingdings" panose="05000000000000000000" pitchFamily="2" charset="2"/>
              </a:rPr>
              <a:t> App </a:t>
            </a:r>
            <a:r>
              <a:rPr lang="ko-KR" altLang="en-US" sz="1400" dirty="0">
                <a:sym typeface="Wingdings" panose="05000000000000000000" pitchFamily="2" charset="2"/>
              </a:rPr>
              <a:t>영역으로 </a:t>
            </a:r>
            <a:r>
              <a:rPr lang="en-US" altLang="ko-KR" sz="1400" dirty="0">
                <a:sym typeface="Wingdings" panose="05000000000000000000" pitchFamily="2" charset="2"/>
              </a:rPr>
              <a:t>binary</a:t>
            </a:r>
            <a:r>
              <a:rPr lang="ko-KR" altLang="en-US" sz="1400" dirty="0">
                <a:sym typeface="Wingdings" panose="05000000000000000000" pitchFamily="2" charset="2"/>
              </a:rPr>
              <a:t> </a:t>
            </a:r>
            <a:r>
              <a:rPr lang="en-US" altLang="ko-KR" sz="1400" dirty="0">
                <a:sym typeface="Wingdings" panose="05000000000000000000" pitchFamily="2" charset="2"/>
              </a:rPr>
              <a:t>write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400" dirty="0">
                <a:sym typeface="Wingdings" panose="05000000000000000000" pitchFamily="2" charset="2"/>
              </a:rPr>
              <a:t>App </a:t>
            </a:r>
            <a:r>
              <a:rPr lang="ko-KR" altLang="en-US" sz="1400" dirty="0">
                <a:sym typeface="Wingdings" panose="05000000000000000000" pitchFamily="2" charset="2"/>
              </a:rPr>
              <a:t>영역 </a:t>
            </a:r>
            <a:r>
              <a:rPr lang="en-US" altLang="ko-KR" sz="1400" dirty="0">
                <a:sym typeface="Wingdings" panose="05000000000000000000" pitchFamily="2" charset="2"/>
              </a:rPr>
              <a:t>CRC </a:t>
            </a:r>
            <a:r>
              <a:rPr lang="ko-KR" altLang="en-US" sz="1400" dirty="0">
                <a:sym typeface="Wingdings" panose="05000000000000000000" pitchFamily="2" charset="2"/>
              </a:rPr>
              <a:t>검증</a:t>
            </a:r>
            <a:endParaRPr lang="en-US" altLang="ko-KR" sz="1400" dirty="0">
              <a:sym typeface="Wingdings" panose="05000000000000000000" pitchFamily="2" charset="2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altLang="ko-KR" sz="1400" dirty="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ym typeface="Wingdings" panose="05000000000000000000" pitchFamily="2" charset="2"/>
              </a:rPr>
              <a:t>&lt;CRC</a:t>
            </a:r>
            <a:r>
              <a:rPr lang="ko-KR" altLang="en-US" sz="1400" dirty="0">
                <a:sym typeface="Wingdings" panose="05000000000000000000" pitchFamily="2" charset="2"/>
              </a:rPr>
              <a:t> </a:t>
            </a:r>
            <a:r>
              <a:rPr lang="en-US" altLang="ko-KR" sz="1400" dirty="0">
                <a:sym typeface="Wingdings" panose="05000000000000000000" pitchFamily="2" charset="2"/>
              </a:rPr>
              <a:t>PASS&gt;</a:t>
            </a:r>
          </a:p>
          <a:p>
            <a:pPr>
              <a:lnSpc>
                <a:spcPct val="150000"/>
              </a:lnSpc>
            </a:pPr>
            <a:r>
              <a:rPr lang="ko-KR" altLang="en-US" sz="1400" dirty="0">
                <a:sym typeface="Wingdings" panose="05000000000000000000" pitchFamily="2" charset="2"/>
              </a:rPr>
              <a:t>종료</a:t>
            </a:r>
            <a:endParaRPr lang="en-US" altLang="ko-KR" sz="1400" dirty="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endParaRPr lang="en-US" altLang="ko-KR" sz="1400" dirty="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ym typeface="Wingdings" panose="05000000000000000000" pitchFamily="2" charset="2"/>
              </a:rPr>
              <a:t>&lt;CRC ERROR&gt;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ym typeface="Wingdings" panose="05000000000000000000" pitchFamily="2" charset="2"/>
              </a:rPr>
              <a:t>1</a:t>
            </a:r>
            <a:r>
              <a:rPr lang="ko-KR" altLang="en-US" sz="1400" dirty="0">
                <a:sym typeface="Wingdings" panose="05000000000000000000" pitchFamily="2" charset="2"/>
              </a:rPr>
              <a:t>단계 부터 재시작</a:t>
            </a:r>
            <a:endParaRPr lang="en-US" altLang="ko-KR" sz="1400" dirty="0">
              <a:sym typeface="Wingdings" panose="05000000000000000000" pitchFamily="2" charset="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A67430-C7E0-4F74-3DF1-E70EB1E9A2E9}"/>
              </a:ext>
            </a:extLst>
          </p:cNvPr>
          <p:cNvSpPr txBox="1"/>
          <p:nvPr/>
        </p:nvSpPr>
        <p:spPr>
          <a:xfrm>
            <a:off x="1209142" y="1007500"/>
            <a:ext cx="3218078" cy="3216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600" b="1" dirty="0"/>
              <a:t>&lt;Bootloader CMD : Restore&gt;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030422-1A10-C446-8799-5CEB7BB7B3EF}"/>
              </a:ext>
            </a:extLst>
          </p:cNvPr>
          <p:cNvSpPr txBox="1"/>
          <p:nvPr/>
        </p:nvSpPr>
        <p:spPr>
          <a:xfrm>
            <a:off x="7302964" y="995240"/>
            <a:ext cx="3067855" cy="3216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600" b="1" dirty="0"/>
              <a:t>&lt;Bootloader CMD : Jump&gt;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FEE1C8-AECB-8978-1316-BE8A9592AB7F}"/>
              </a:ext>
            </a:extLst>
          </p:cNvPr>
          <p:cNvSpPr txBox="1"/>
          <p:nvPr/>
        </p:nvSpPr>
        <p:spPr>
          <a:xfrm>
            <a:off x="6770247" y="1833979"/>
            <a:ext cx="4133288" cy="35132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/>
              <a:t>[LED </a:t>
            </a:r>
            <a:r>
              <a:rPr lang="ko-KR" altLang="en-US" sz="1400" dirty="0"/>
              <a:t>항상 점등</a:t>
            </a:r>
            <a:r>
              <a:rPr lang="en-US" altLang="ko-KR" sz="1400" dirty="0"/>
              <a:t>]</a:t>
            </a:r>
          </a:p>
          <a:p>
            <a:pPr>
              <a:lnSpc>
                <a:spcPct val="150000"/>
              </a:lnSpc>
            </a:pPr>
            <a:endParaRPr lang="en-US" altLang="ko-KR" sz="1400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400" dirty="0"/>
              <a:t>APP CRC </a:t>
            </a:r>
            <a:r>
              <a:rPr lang="ko-KR" altLang="en-US" sz="1400" dirty="0"/>
              <a:t>검증</a:t>
            </a:r>
            <a:endParaRPr lang="en-US" altLang="ko-KR" sz="1400" dirty="0"/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en-US" altLang="ko-KR" sz="1400" dirty="0">
                <a:sym typeface="Wingdings" panose="05000000000000000000" pitchFamily="2" charset="2"/>
              </a:rPr>
              <a:t>&lt;CRC</a:t>
            </a:r>
            <a:r>
              <a:rPr lang="ko-KR" altLang="en-US" sz="1400" dirty="0">
                <a:sym typeface="Wingdings" panose="05000000000000000000" pitchFamily="2" charset="2"/>
              </a:rPr>
              <a:t> </a:t>
            </a:r>
            <a:r>
              <a:rPr lang="en-US" altLang="ko-KR" sz="1400" dirty="0">
                <a:sym typeface="Wingdings" panose="05000000000000000000" pitchFamily="2" charset="2"/>
              </a:rPr>
              <a:t>PASS&gt;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400" dirty="0">
                <a:sym typeface="Wingdings" panose="05000000000000000000" pitchFamily="2" charset="2"/>
              </a:rPr>
              <a:t>APP</a:t>
            </a:r>
            <a:r>
              <a:rPr lang="ko-KR" altLang="en-US" sz="1400" dirty="0">
                <a:sym typeface="Wingdings" panose="05000000000000000000" pitchFamily="2" charset="2"/>
              </a:rPr>
              <a:t> 주소로 </a:t>
            </a:r>
            <a:r>
              <a:rPr lang="en-US" altLang="ko-KR" sz="1400" dirty="0">
                <a:sym typeface="Wingdings" panose="05000000000000000000" pitchFamily="2" charset="2"/>
              </a:rPr>
              <a:t>jump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altLang="ko-KR" sz="1400" dirty="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endParaRPr lang="en-US" altLang="ko-KR" sz="1400" dirty="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ym typeface="Wingdings" panose="05000000000000000000" pitchFamily="2" charset="2"/>
              </a:rPr>
              <a:t>&lt;CRC ERROR&gt;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ym typeface="Wingdings" panose="05000000000000000000" pitchFamily="2" charset="2"/>
              </a:rPr>
              <a:t>CRC </a:t>
            </a:r>
            <a:r>
              <a:rPr lang="ko-KR" altLang="en-US" sz="1400" dirty="0">
                <a:sym typeface="Wingdings" panose="05000000000000000000" pitchFamily="2" charset="2"/>
              </a:rPr>
              <a:t>검증 실패 출력</a:t>
            </a:r>
            <a:endParaRPr lang="en-US" altLang="ko-KR" sz="1400" dirty="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36236971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CC852-3DFA-FD42-215A-63160A9CE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C5479F7B-B3EC-F9D1-4673-D2620DFF78B9}"/>
              </a:ext>
            </a:extLst>
          </p:cNvPr>
          <p:cNvGrpSpPr/>
          <p:nvPr/>
        </p:nvGrpSpPr>
        <p:grpSpPr>
          <a:xfrm>
            <a:off x="399814" y="141797"/>
            <a:ext cx="1977994" cy="307777"/>
            <a:chOff x="426281" y="283235"/>
            <a:chExt cx="1978449" cy="30784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A927C10-52F0-019B-75C3-71F7197A4D69}"/>
                </a:ext>
              </a:extLst>
            </p:cNvPr>
            <p:cNvSpPr txBox="1"/>
            <p:nvPr/>
          </p:nvSpPr>
          <p:spPr>
            <a:xfrm>
              <a:off x="426281" y="283235"/>
              <a:ext cx="149114" cy="30784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r"/>
              <a:r>
                <a:rPr lang="en-US" altLang="ko-KR" sz="20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ea typeface="G마켓 산스 TTF Bold" panose="02000000000000000000" pitchFamily="2" charset="-127"/>
                </a:rPr>
                <a:t>3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CBDB9A7-0E47-7AD6-6DC7-F5DE26A0E053}"/>
                </a:ext>
              </a:extLst>
            </p:cNvPr>
            <p:cNvSpPr txBox="1"/>
            <p:nvPr/>
          </p:nvSpPr>
          <p:spPr>
            <a:xfrm>
              <a:off x="690724" y="298625"/>
              <a:ext cx="1714006" cy="27706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 SemiBold" pitchFamily="50" charset="-127"/>
                </a:rPr>
                <a:t>Application</a:t>
              </a:r>
              <a:r>
                <a:rPr lang="ko-KR" altLang="en-US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 SemiBold" pitchFamily="50" charset="-127"/>
                </a:rPr>
                <a:t>기능</a:t>
              </a:r>
            </a:p>
          </p:txBody>
        </p: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0414F2E-1E4B-6B5A-6138-9A40FF09FB65}"/>
                </a:ext>
              </a:extLst>
            </p:cNvPr>
            <p:cNvCxnSpPr/>
            <p:nvPr/>
          </p:nvCxnSpPr>
          <p:spPr>
            <a:xfrm>
              <a:off x="623322" y="345002"/>
              <a:ext cx="0" cy="184242"/>
            </a:xfrm>
            <a:prstGeom prst="line">
              <a:avLst/>
            </a:prstGeom>
            <a:ln>
              <a:solidFill>
                <a:srgbClr val="2E71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09808018-D54E-5006-D0E2-85DCCABC8AA6}"/>
              </a:ext>
            </a:extLst>
          </p:cNvPr>
          <p:cNvSpPr txBox="1"/>
          <p:nvPr/>
        </p:nvSpPr>
        <p:spPr>
          <a:xfrm>
            <a:off x="590206" y="2517064"/>
            <a:ext cx="3958934" cy="28668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/>
              <a:t>[LED 100ms </a:t>
            </a:r>
            <a:r>
              <a:rPr lang="ko-KR" altLang="en-US" sz="1400" dirty="0"/>
              <a:t>간격으로 점등</a:t>
            </a:r>
            <a:r>
              <a:rPr lang="en-US" altLang="ko-KR" sz="1400" dirty="0"/>
              <a:t>]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altLang="ko-KR" sz="1400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400" dirty="0"/>
              <a:t>UART log </a:t>
            </a:r>
            <a:r>
              <a:rPr lang="ko-KR" altLang="en-US" sz="1400" dirty="0"/>
              <a:t>출력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en-US" altLang="ko-KR" sz="1400" dirty="0"/>
              <a:t>     . Application </a:t>
            </a:r>
            <a:r>
              <a:rPr lang="ko-KR" altLang="en-US" sz="1400" dirty="0"/>
              <a:t>실행 중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en-US" altLang="ko-KR" sz="1400" dirty="0"/>
              <a:t>     . FW </a:t>
            </a:r>
            <a:r>
              <a:rPr lang="ko-KR" altLang="en-US" sz="1400" dirty="0"/>
              <a:t>버전 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en-US" altLang="ko-KR" sz="1400" dirty="0"/>
              <a:t>2. Boot State </a:t>
            </a:r>
            <a:r>
              <a:rPr lang="ko-KR" altLang="en-US" sz="1400" dirty="0"/>
              <a:t>변경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en-US" altLang="ko-KR" sz="1400" dirty="0"/>
              <a:t>     . Blue</a:t>
            </a:r>
            <a:r>
              <a:rPr lang="ko-KR" altLang="en-US" sz="1400" dirty="0"/>
              <a:t> 버튼 누르면 </a:t>
            </a:r>
            <a:r>
              <a:rPr lang="en-US" altLang="ko-KR" sz="1400" dirty="0"/>
              <a:t>boot state</a:t>
            </a:r>
            <a:r>
              <a:rPr lang="ko-KR" altLang="en-US" sz="1400" dirty="0"/>
              <a:t> </a:t>
            </a:r>
            <a:r>
              <a:rPr lang="en-US" altLang="ko-KR" sz="1400" dirty="0"/>
              <a:t>toggle</a:t>
            </a:r>
          </a:p>
          <a:p>
            <a:pPr>
              <a:lnSpc>
                <a:spcPct val="150000"/>
              </a:lnSpc>
            </a:pPr>
            <a:r>
              <a:rPr lang="en-US" altLang="ko-KR" sz="1400" dirty="0"/>
              <a:t>     . Boot state </a:t>
            </a:r>
            <a:r>
              <a:rPr lang="ko-KR" altLang="en-US" sz="1400" dirty="0"/>
              <a:t>값 </a:t>
            </a:r>
            <a:r>
              <a:rPr lang="en-US" altLang="ko-KR" sz="1400" dirty="0"/>
              <a:t>RAM</a:t>
            </a:r>
            <a:r>
              <a:rPr lang="ko-KR" altLang="en-US" sz="1400" dirty="0"/>
              <a:t>의 </a:t>
            </a:r>
            <a:r>
              <a:rPr lang="en-US" altLang="ko-KR" sz="1400" dirty="0"/>
              <a:t>.</a:t>
            </a:r>
            <a:r>
              <a:rPr lang="en-US" altLang="ko-KR" sz="1400" dirty="0" err="1"/>
              <a:t>noinit</a:t>
            </a:r>
            <a:r>
              <a:rPr lang="en-US" altLang="ko-KR" sz="1400" dirty="0"/>
              <a:t> </a:t>
            </a:r>
            <a:r>
              <a:rPr lang="ko-KR" altLang="en-US" sz="1400" dirty="0"/>
              <a:t>공간에 저장</a:t>
            </a:r>
            <a:endParaRPr lang="en-US" altLang="ko-KR" sz="1400" dirty="0"/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altLang="ko-KR" sz="14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D6FDE93-B4C2-CDDB-55E5-43BEA647B181}"/>
              </a:ext>
            </a:extLst>
          </p:cNvPr>
          <p:cNvSpPr txBox="1"/>
          <p:nvPr/>
        </p:nvSpPr>
        <p:spPr>
          <a:xfrm>
            <a:off x="399814" y="1549515"/>
            <a:ext cx="2463701" cy="3216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600" b="1" dirty="0"/>
              <a:t>&lt;application&gt;</a:t>
            </a:r>
          </a:p>
        </p:txBody>
      </p:sp>
    </p:spTree>
    <p:extLst>
      <p:ext uri="{BB962C8B-B14F-4D97-AF65-F5344CB8AC3E}">
        <p14:creationId xmlns:p14="http://schemas.microsoft.com/office/powerpoint/2010/main" val="27560781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0D702-822C-5165-CB89-B5929C017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DE931CD4-881A-60C6-A567-C2AED107ABD1}"/>
              </a:ext>
            </a:extLst>
          </p:cNvPr>
          <p:cNvGrpSpPr/>
          <p:nvPr/>
        </p:nvGrpSpPr>
        <p:grpSpPr>
          <a:xfrm>
            <a:off x="399814" y="141797"/>
            <a:ext cx="3016739" cy="307777"/>
            <a:chOff x="426281" y="283235"/>
            <a:chExt cx="3017433" cy="30784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AE831FA-E816-73E9-25FB-66CDDA292E72}"/>
                </a:ext>
              </a:extLst>
            </p:cNvPr>
            <p:cNvSpPr txBox="1"/>
            <p:nvPr/>
          </p:nvSpPr>
          <p:spPr>
            <a:xfrm>
              <a:off x="426281" y="283235"/>
              <a:ext cx="149114" cy="30784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r"/>
              <a:r>
                <a:rPr lang="en-US" altLang="ko-KR" sz="20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ea typeface="G마켓 산스 TTF Bold" panose="02000000000000000000" pitchFamily="2" charset="-127"/>
                </a:rPr>
                <a:t>4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4993827-EA28-C700-B87B-652A94355AA3}"/>
                </a:ext>
              </a:extLst>
            </p:cNvPr>
            <p:cNvSpPr txBox="1"/>
            <p:nvPr/>
          </p:nvSpPr>
          <p:spPr>
            <a:xfrm>
              <a:off x="690724" y="298625"/>
              <a:ext cx="2752990" cy="27706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 SemiBold" pitchFamily="50" charset="-127"/>
                </a:rPr>
                <a:t>STM32 IDE </a:t>
              </a:r>
              <a:r>
                <a:rPr lang="ko-KR" altLang="en-US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 SemiBold" pitchFamily="50" charset="-127"/>
                </a:rPr>
                <a:t>프로젝트 구성</a:t>
              </a:r>
            </a:p>
          </p:txBody>
        </p: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996EB297-4058-9ECA-31D1-122610173A86}"/>
                </a:ext>
              </a:extLst>
            </p:cNvPr>
            <p:cNvCxnSpPr/>
            <p:nvPr/>
          </p:nvCxnSpPr>
          <p:spPr>
            <a:xfrm>
              <a:off x="623322" y="345002"/>
              <a:ext cx="0" cy="184242"/>
            </a:xfrm>
            <a:prstGeom prst="line">
              <a:avLst/>
            </a:prstGeom>
            <a:ln>
              <a:solidFill>
                <a:srgbClr val="2E71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1BE0543C-C41F-E461-AAAB-52300F4AF0DC}"/>
              </a:ext>
            </a:extLst>
          </p:cNvPr>
          <p:cNvSpPr txBox="1"/>
          <p:nvPr/>
        </p:nvSpPr>
        <p:spPr>
          <a:xfrm>
            <a:off x="664196" y="1796164"/>
            <a:ext cx="2463701" cy="3216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600" b="1" dirty="0"/>
              <a:t>&lt;Boot loader project&gt;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5730DC-5275-B71C-4A92-A5820122E25B}"/>
              </a:ext>
            </a:extLst>
          </p:cNvPr>
          <p:cNvSpPr txBox="1"/>
          <p:nvPr/>
        </p:nvSpPr>
        <p:spPr>
          <a:xfrm>
            <a:off x="4648700" y="1796166"/>
            <a:ext cx="2463701" cy="3216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600" b="1" dirty="0"/>
              <a:t>&lt;Application project&gt;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D28C91-6E5E-16ED-37AC-EDFE1719BADD}"/>
              </a:ext>
            </a:extLst>
          </p:cNvPr>
          <p:cNvSpPr txBox="1"/>
          <p:nvPr/>
        </p:nvSpPr>
        <p:spPr>
          <a:xfrm>
            <a:off x="8465680" y="1796165"/>
            <a:ext cx="3062124" cy="3216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600" b="1" dirty="0"/>
              <a:t>&lt;Application Backup project&gt;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646089-43F0-5F2C-BC70-FB28883B9E17}"/>
              </a:ext>
            </a:extLst>
          </p:cNvPr>
          <p:cNvSpPr txBox="1"/>
          <p:nvPr/>
        </p:nvSpPr>
        <p:spPr>
          <a:xfrm>
            <a:off x="854589" y="762907"/>
            <a:ext cx="2691330" cy="281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/>
              <a:t>총 </a:t>
            </a:r>
            <a:r>
              <a:rPr lang="en-US" altLang="ko-KR" sz="1400" dirty="0"/>
              <a:t>3</a:t>
            </a:r>
            <a:r>
              <a:rPr lang="ko-KR" altLang="en-US" sz="1400" dirty="0"/>
              <a:t>가지의 </a:t>
            </a:r>
            <a:r>
              <a:rPr lang="en-US" altLang="ko-KR" sz="1400" dirty="0"/>
              <a:t>IDE</a:t>
            </a:r>
            <a:r>
              <a:rPr lang="ko-KR" altLang="en-US" sz="1400" dirty="0"/>
              <a:t> 프로젝트 구성</a:t>
            </a:r>
            <a:endParaRPr lang="en-US" altLang="ko-KR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998503-D5F1-5302-1CCB-49F95078EBBF}"/>
              </a:ext>
            </a:extLst>
          </p:cNvPr>
          <p:cNvSpPr txBox="1"/>
          <p:nvPr/>
        </p:nvSpPr>
        <p:spPr>
          <a:xfrm>
            <a:off x="596811" y="2654528"/>
            <a:ext cx="2628020" cy="12510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altLang="ko-KR" sz="1400" dirty="0"/>
              <a:t>Flash </a:t>
            </a:r>
            <a:r>
              <a:rPr lang="ko-KR" altLang="en-US" sz="1400" dirty="0"/>
              <a:t>시작</a:t>
            </a:r>
            <a:r>
              <a:rPr lang="en-US" altLang="ko-KR" sz="1400" dirty="0"/>
              <a:t> </a:t>
            </a:r>
            <a:r>
              <a:rPr lang="ko-KR" altLang="en-US" sz="1400" dirty="0"/>
              <a:t>주소</a:t>
            </a:r>
            <a:endParaRPr lang="en-US" altLang="ko-KR" sz="1400" dirty="0"/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ko-KR" altLang="en-US" sz="1400" dirty="0"/>
              <a:t>크기</a:t>
            </a:r>
            <a:r>
              <a:rPr lang="en-US" altLang="ko-KR" sz="1400" dirty="0"/>
              <a:t> : 24KB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endParaRPr lang="en-US" altLang="ko-KR" sz="1400" dirty="0"/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altLang="ko-KR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8C7C6E-9A7D-928D-F9D0-37F3104E7F94}"/>
              </a:ext>
            </a:extLst>
          </p:cNvPr>
          <p:cNvSpPr txBox="1"/>
          <p:nvPr/>
        </p:nvSpPr>
        <p:spPr>
          <a:xfrm>
            <a:off x="4895422" y="2654528"/>
            <a:ext cx="2628020" cy="12510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altLang="ko-KR" sz="1400" dirty="0"/>
              <a:t>Flash </a:t>
            </a:r>
            <a:r>
              <a:rPr lang="ko-KR" altLang="en-US" sz="1400" dirty="0"/>
              <a:t>시작</a:t>
            </a:r>
            <a:r>
              <a:rPr lang="en-US" altLang="ko-KR" sz="1400" dirty="0"/>
              <a:t> </a:t>
            </a:r>
            <a:r>
              <a:rPr lang="ko-KR" altLang="en-US" sz="1400" dirty="0"/>
              <a:t>주소</a:t>
            </a:r>
            <a:endParaRPr lang="en-US" altLang="ko-KR" sz="1400" dirty="0"/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ko-KR" altLang="en-US" sz="1400" dirty="0"/>
              <a:t>크기</a:t>
            </a:r>
            <a:r>
              <a:rPr lang="en-US" altLang="ko-KR" sz="1400" dirty="0"/>
              <a:t> : 52KB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endParaRPr lang="en-US" altLang="ko-KR" sz="1400" dirty="0"/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altLang="ko-KR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481592-6ABA-38C0-0CCF-300744B71B9B}"/>
              </a:ext>
            </a:extLst>
          </p:cNvPr>
          <p:cNvSpPr txBox="1"/>
          <p:nvPr/>
        </p:nvSpPr>
        <p:spPr>
          <a:xfrm>
            <a:off x="8836963" y="2654528"/>
            <a:ext cx="2628020" cy="18973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altLang="ko-KR" sz="1400" dirty="0"/>
              <a:t>Flash </a:t>
            </a:r>
            <a:r>
              <a:rPr lang="ko-KR" altLang="en-US" sz="1400" dirty="0"/>
              <a:t>시작</a:t>
            </a:r>
            <a:r>
              <a:rPr lang="en-US" altLang="ko-KR" sz="1400" dirty="0"/>
              <a:t> </a:t>
            </a:r>
            <a:r>
              <a:rPr lang="ko-KR" altLang="en-US" sz="1400" dirty="0"/>
              <a:t>주소</a:t>
            </a:r>
            <a:endParaRPr lang="en-US" altLang="ko-KR" sz="1400" dirty="0"/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ko-KR" altLang="en-US" sz="1400" dirty="0"/>
              <a:t>크기</a:t>
            </a:r>
            <a:r>
              <a:rPr lang="en-US" altLang="ko-KR" sz="1400" dirty="0"/>
              <a:t> : 52KB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altLang="ko-KR" sz="1400" dirty="0"/>
              <a:t>Application</a:t>
            </a:r>
            <a:r>
              <a:rPr lang="ko-KR" altLang="en-US" sz="1400" dirty="0"/>
              <a:t>에서 주소만 변경</a:t>
            </a:r>
            <a:endParaRPr lang="en-US" altLang="ko-KR" sz="1400" dirty="0"/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altLang="ko-KR" sz="1400" dirty="0"/>
              <a:t>ORIGIN </a:t>
            </a:r>
            <a:r>
              <a:rPr lang="ko-KR" altLang="en-US" sz="1400" dirty="0"/>
              <a:t>주소는 </a:t>
            </a:r>
            <a:endParaRPr lang="en-US" altLang="ko-KR" sz="1400" dirty="0"/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endParaRPr lang="en-US" altLang="ko-KR" sz="1400" dirty="0"/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altLang="ko-KR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DF2883-5F1D-77BB-D7EA-D9F3D22CDE68}"/>
              </a:ext>
            </a:extLst>
          </p:cNvPr>
          <p:cNvSpPr txBox="1"/>
          <p:nvPr/>
        </p:nvSpPr>
        <p:spPr>
          <a:xfrm>
            <a:off x="6669131" y="2654528"/>
            <a:ext cx="1327787" cy="281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accent1"/>
                </a:solidFill>
              </a:rPr>
              <a:t>0x0800 6000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152F48E-3323-F1E1-76EA-194BE2789BA1}"/>
              </a:ext>
            </a:extLst>
          </p:cNvPr>
          <p:cNvSpPr txBox="1"/>
          <p:nvPr/>
        </p:nvSpPr>
        <p:spPr>
          <a:xfrm>
            <a:off x="2344156" y="2654528"/>
            <a:ext cx="1143980" cy="281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accent1"/>
                </a:solidFill>
              </a:rPr>
              <a:t>0x0800 0000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97D27D-B5C2-674E-F755-05AE72AA1C8C}"/>
              </a:ext>
            </a:extLst>
          </p:cNvPr>
          <p:cNvSpPr txBox="1"/>
          <p:nvPr/>
        </p:nvSpPr>
        <p:spPr>
          <a:xfrm>
            <a:off x="10680831" y="2654528"/>
            <a:ext cx="1327787" cy="281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accent1"/>
                </a:solidFill>
              </a:rPr>
              <a:t>0x0801 3000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854978-6011-09B9-7428-48481290F45C}"/>
              </a:ext>
            </a:extLst>
          </p:cNvPr>
          <p:cNvSpPr txBox="1"/>
          <p:nvPr/>
        </p:nvSpPr>
        <p:spPr>
          <a:xfrm>
            <a:off x="10680830" y="3602664"/>
            <a:ext cx="1327787" cy="281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accent1"/>
                </a:solidFill>
              </a:rPr>
              <a:t>0x0800 6000 </a:t>
            </a:r>
          </a:p>
        </p:txBody>
      </p:sp>
    </p:spTree>
    <p:extLst>
      <p:ext uri="{BB962C8B-B14F-4D97-AF65-F5344CB8AC3E}">
        <p14:creationId xmlns:p14="http://schemas.microsoft.com/office/powerpoint/2010/main" val="29681322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23648</TotalTime>
  <Words>524</Words>
  <Application>Microsoft Office PowerPoint</Application>
  <PresentationFormat>와이드스크린</PresentationFormat>
  <Paragraphs>154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이진영</dc:creator>
  <cp:lastModifiedBy>규철 박</cp:lastModifiedBy>
  <cp:revision>968</cp:revision>
  <cp:lastPrinted>2026-01-14T01:22:07Z</cp:lastPrinted>
  <dcterms:created xsi:type="dcterms:W3CDTF">2025-05-12T02:30:34Z</dcterms:created>
  <dcterms:modified xsi:type="dcterms:W3CDTF">2026-05-11T04:42:16Z</dcterms:modified>
</cp:coreProperties>
</file>